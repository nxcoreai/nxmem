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3b1d551184309" /><Relationship Type="http://schemas.openxmlformats.org/officeDocument/2006/relationships/extended-properties" Target="/docProps/app.xml" Id="R69d6bb7d980949aa" /><Relationship Type="http://schemas.openxmlformats.org/officeDocument/2006/relationships/officeDocument" Target="/ppt/presentation.xml" Id="R4d39dbf94e32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3766e6d7e4257"/>
  </p:sldMasterIdLst>
  <p:notesMasterIdLst>
    <p:notesMasterId xmlns:r="http://schemas.openxmlformats.org/officeDocument/2006/relationships" r:id="Rc336a6f83c364dc5"/>
  </p:notesMasterIdLst>
  <p:sldIdLst>
    <p:sldId xmlns:r="http://schemas.openxmlformats.org/officeDocument/2006/relationships" id="256" r:id="Rfcc3edc1742f48a1"/>
    <p:sldId xmlns:r="http://schemas.openxmlformats.org/officeDocument/2006/relationships" id="257" r:id="R2da6d619c4e043bf"/>
    <p:sldId xmlns:r="http://schemas.openxmlformats.org/officeDocument/2006/relationships" id="258" r:id="R22a37b028a8f4ae8"/>
    <p:sldId xmlns:r="http://schemas.openxmlformats.org/officeDocument/2006/relationships" id="259" r:id="R19f3f36cf2f145fa"/>
    <p:sldId xmlns:r="http://schemas.openxmlformats.org/officeDocument/2006/relationships" id="260" r:id="R5da8792f61684cbb"/>
    <p:sldId xmlns:r="http://schemas.openxmlformats.org/officeDocument/2006/relationships" id="261" r:id="Rcae20bd0df3b48ee"/>
    <p:sldId xmlns:r="http://schemas.openxmlformats.org/officeDocument/2006/relationships" id="262" r:id="Rab31e90edd4e4d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5830b140ae478b" /><Relationship Type="http://schemas.openxmlformats.org/officeDocument/2006/relationships/slideMaster" Target="/ppt/slideMasters/slideMaster1.xml" Id="R81b3766e6d7e4257" /><Relationship Type="http://schemas.openxmlformats.org/officeDocument/2006/relationships/notesMaster" Target="/ppt/notesMasters/notesMaster1.xml" Id="Rc336a6f83c364dc5" /><Relationship Type="http://schemas.openxmlformats.org/officeDocument/2006/relationships/presProps" Target="/ppt/presProps.xml" Id="Re8690435daae4a6f" /><Relationship Type="http://schemas.openxmlformats.org/officeDocument/2006/relationships/tableStyles" Target="/ppt/tableStyles.xml" Id="R17e41aa703254c5c" /><Relationship Type="http://schemas.openxmlformats.org/officeDocument/2006/relationships/slide" Target="/ppt/slides/slide1.xml" Id="Rfcc3edc1742f48a1" /><Relationship Type="http://schemas.openxmlformats.org/officeDocument/2006/relationships/slide" Target="/ppt/slides/slide2.xml" Id="R2da6d619c4e043bf" /><Relationship Type="http://schemas.openxmlformats.org/officeDocument/2006/relationships/slide" Target="/ppt/slides/slide3.xml" Id="R22a37b028a8f4ae8" /><Relationship Type="http://schemas.openxmlformats.org/officeDocument/2006/relationships/slide" Target="/ppt/slides/slide4.xml" Id="R19f3f36cf2f145fa" /><Relationship Type="http://schemas.openxmlformats.org/officeDocument/2006/relationships/slide" Target="/ppt/slides/slide5.xml" Id="R5da8792f61684cbb" /><Relationship Type="http://schemas.openxmlformats.org/officeDocument/2006/relationships/slide" Target="/ppt/slides/slide6.xml" Id="Rcae20bd0df3b48ee" /><Relationship Type="http://schemas.openxmlformats.org/officeDocument/2006/relationships/slide" Target="/ppt/slides/slide7.xml" Id="Rab31e90edd4e4d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ecc5a035fe4c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b0b7b897b649d7" /><Relationship Type="http://schemas.openxmlformats.org/officeDocument/2006/relationships/notesMaster" Target="/ppt/notesMasters/notesMaster1.xml" Id="Re968292bcbe04b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0d0ed0ce1949c8" /><Relationship Type="http://schemas.openxmlformats.org/officeDocument/2006/relationships/notesMaster" Target="/ppt/notesMasters/notesMaster1.xml" Id="Rb2dfd2cc14a847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c656456c54498c" /><Relationship Type="http://schemas.openxmlformats.org/officeDocument/2006/relationships/notesMaster" Target="/ppt/notesMasters/notesMaster1.xml" Id="R7d326c98e49845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8747097e344c57" /><Relationship Type="http://schemas.openxmlformats.org/officeDocument/2006/relationships/notesMaster" Target="/ppt/notesMasters/notesMaster1.xml" Id="Rdb299f3ee60e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a7b7943f847b4" /><Relationship Type="http://schemas.openxmlformats.org/officeDocument/2006/relationships/notesMaster" Target="/ppt/notesMasters/notesMaster1.xml" Id="Rd72bf675639448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9260a38d224abf" /><Relationship Type="http://schemas.openxmlformats.org/officeDocument/2006/relationships/notesMaster" Target="/ppt/notesMasters/notesMaster1.xml" Id="R53947456684341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51ccd53f04b6e" /><Relationship Type="http://schemas.openxmlformats.org/officeDocument/2006/relationships/notesMaster" Target="/ppt/notesMasters/notesMaster1.xml" Id="R2ea6c19ca7394e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开场先建立产品定位：这不是一个简单的向量数据库，而是一套以证据为基础、可追溯、可治理的智能体记忆系统。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video: apps/video/out/memory-engine-demo.mp4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解释主链路：Agent 或连接器先写入 MemoryEvent，系统把原始证据落到 Data Lake，再融合成 FactItem，最后进入 STM 准入。强调事实生成在记忆准入之前。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apps/video/src/MemoryEngineVideo.tsx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逐项解释 STM 的七类准入信号。重点说明敏感信息不是依靠模型自行判断，而是由系统规则决定 rejected 或 pending_confirm。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prompt: STM到LTM七维评分Prompt.md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graph store 是召回的组成部分，不是事后展示。关键词、向量、图邻域、时间和反馈共同形成候选排序，冲突关系会继续传播到 Context Pack。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change: openspec/changes/add-memory-graph-query-api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 Dreaming 的调度和抢占机制：后台任务可以暂停并从 checkpoint 恢复，前台用户交互始终优先。巩固成功时 LTM 接管来源事实和证据关系。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design: Context-Engine-做梦巩固调度机制实现方案.md</a:t>
            </a:r>
          </a:p>
          <a:p xmlns:a="http://schemas.openxmlformats.org/drawingml/2006/main">
            <a:r>
              <a:t>- Internal source: apps/backend/src/modules/context-engine/dreaming-worker.ts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R2 组装层如何分配 token 预算。Context Pack 同时输出 citations、conflicts、compressionSteps 和 dropped reasons，使 Agent 能够在有限窗口中使用最重要的上下文。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apps/backend/src/modules/context-engine/assemble-context.ts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收束时把技术能力转译成客户价值：证据可回链、关系可计算、权限可治理、过程可审计。根据客户场景进入问答或演示真实调试台。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documentation: PRD.md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7a814261c4d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2abed688ff4f31" /><Relationship Type="http://schemas.openxmlformats.org/officeDocument/2006/relationships/slideLayout" Target="/ppt/slideLayouts/slideLayout1.xml" Id="Rf1feae37038f46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feae37038f46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9f4a775ee426c" /><Relationship Type="http://schemas.openxmlformats.org/officeDocument/2006/relationships/image" Target="/ppt/media/image.png" Id="R257961210f724150" /><Relationship Type="http://schemas.openxmlformats.org/officeDocument/2006/relationships/notesSlide" Target="/ppt/notesSlides/notesSlide1.xml" Id="Ra1f3f45a827f46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ea2e0d65a4f4b" /><Relationship Type="http://schemas.openxmlformats.org/officeDocument/2006/relationships/image" Target="/ppt/media/image2.png" Id="R6449e8e574ba482b" /><Relationship Type="http://schemas.openxmlformats.org/officeDocument/2006/relationships/notesSlide" Target="/ppt/notesSlides/notesSlide2.xml" Id="R5da62ef116d74d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531f725a34830" /><Relationship Type="http://schemas.openxmlformats.org/officeDocument/2006/relationships/image" Target="/ppt/media/image3.png" Id="R3cabaa238dcd4bc1" /><Relationship Type="http://schemas.openxmlformats.org/officeDocument/2006/relationships/notesSlide" Target="/ppt/notesSlides/notesSlide3.xml" Id="R31af9c52896240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9c097aeed4698" /><Relationship Type="http://schemas.openxmlformats.org/officeDocument/2006/relationships/image" Target="/ppt/media/image4.png" Id="Rc6fe1dff3f1e43f8" /><Relationship Type="http://schemas.openxmlformats.org/officeDocument/2006/relationships/notesSlide" Target="/ppt/notesSlides/notesSlide4.xml" Id="R46f45fd29d784e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eef8197b94fa9" /><Relationship Type="http://schemas.openxmlformats.org/officeDocument/2006/relationships/image" Target="/ppt/media/image5.png" Id="R5a276f027ff64dd1" /><Relationship Type="http://schemas.openxmlformats.org/officeDocument/2006/relationships/notesSlide" Target="/ppt/notesSlides/notesSlide5.xml" Id="Rc47445721ebf43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205f9f1f5438c" /><Relationship Type="http://schemas.openxmlformats.org/officeDocument/2006/relationships/image" Target="/ppt/media/image6.png" Id="R150c4f18eb2f45ba" /><Relationship Type="http://schemas.openxmlformats.org/officeDocument/2006/relationships/notesSlide" Target="/ppt/notesSlides/notesSlide6.xml" Id="Rb5a0d082ebad4d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27f2101ef413e" /><Relationship Type="http://schemas.openxmlformats.org/officeDocument/2006/relationships/notesSlide" Target="/ppt/notesSlides/notesSlide7.xml" Id="R6a395ed753c544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961210f7241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E52FA-CCAD-4ED1-9017-A7F6DE3B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47675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2541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37F09-585F-46A2-98DD-EBC4C42A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2F4"/>
                </a:solidFill>
              </a:defRPr>
            </a:pPr>
            <a:r>
              <a:rPr sz="1350" b="1">
                <a:solidFill>
                  <a:srgbClr val="E8F2F4"/>
                </a:solidFill>
              </a:rPr>
              <a:t>客户技术介绍 · 动态可视化版</a:t>
            </a:r>
          </a:p>
        </p:txBody>
      </p:sp>
    </p:spTree>
    <p:extLst>
      <p:ext uri="{BB962C8B-B14F-4D97-AF65-F5344CB8AC3E}">
        <p14:creationId xmlns:p14="http://schemas.microsoft.com/office/powerpoint/2010/main" val="15430939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9e8e574ba48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1F581-42C5-4ED9-AABF-705ADF28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57300"/>
            <a:ext cx="35242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>
              <a:alpha val="8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akeaway-先保留证据，再生成记忆">
            <a:extLst xmlns:a="http://schemas.openxmlformats.org/drawingml/2006/main">
              <a:ext uri="{FF2B5EF4-FFF2-40B4-BE49-F238E27FC236}">
                <a16:creationId xmlns:a16="http://schemas.microsoft.com/office/drawing/2014/main" id="{EEC50618-9F40-403A-B3D0-4EA1F6FD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952750" cy="31432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4ED6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54CB8-344D-4E56-83DE-C1760E11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客户应记住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D82FA-A926-4F34-9534-4F302E61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先保留证据，再生成记忆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EE1F3-BB38-4917-B430-0D633050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6AC75-A93B-4C55-8B11-E3A8E680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MemoryEvent 入口统一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3814A-6358-4CA3-B98D-3892A9A3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F3421-288B-47E5-A695-B9C82035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290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SourceRef 与权限快照随链路传递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58E13-6B2A-4FB2-A79A-64F4E8CB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601D6-A131-46FC-B6FD-79B43594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失败和不支持模态仍可审计重放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4F6E9-BE1A-4F69-9AF3-6B0DBBBC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53775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baa238dcd4b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494DB-526F-4B8F-8848-48CD8C8D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2990850" cy="3429000"/>
          </a:xfrm>
          <a:prstGeom xmlns:a="http://schemas.openxmlformats.org/drawingml/2006/main" prst="roundRect">
            <a:avLst>
              <a:gd name="adj" fmla="val 1911"/>
            </a:avLst>
          </a:prstGeom>
          <a:solidFill xmlns:a="http://schemas.openxmlformats.org/drawingml/2006/main">
            <a:srgbClr val="071018">
              <a:alpha val="88000"/>
            </a:srgbClr>
          </a:solidFill>
          <a:ln xmlns:a="http://schemas.openxmlformats.org/drawingml/2006/main" w="9525">
            <a:solidFill>
              <a:srgbClr val="B79A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C4121-7208-44E9-B25D-7A405F5F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457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F2F4"/>
                </a:solidFill>
              </a:defRPr>
            </a:pPr>
            <a:r>
              <a:rPr sz="2025" b="1">
                <a:solidFill>
                  <a:srgbClr val="E8F2F4"/>
                </a:solidFill>
              </a:rPr>
              <a:t>不是所有事实</a:t>
            </a:r>
          </a:p>
          <a:p xmlns:a="http://schemas.openxmlformats.org/drawingml/2006/main">
            <a:pPr algn="l">
              <a:defRPr sz="2025" b="1">
                <a:solidFill>
                  <a:srgbClr val="E8F2F4"/>
                </a:solidFill>
              </a:defRPr>
            </a:pPr>
            <a:r>
              <a:rPr sz="2025" b="1">
                <a:solidFill>
                  <a:srgbClr val="E8F2F4"/>
                </a:solidFill>
              </a:rPr>
              <a:t>都应该变成记忆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954F1-4FC2-44CA-AE8C-76CDF02F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9AFF"/>
                </a:solidFill>
              </a:defRPr>
            </a:pPr>
            <a:r>
              <a:rPr sz="1200" b="1">
                <a:solidFill>
                  <a:srgbClr val="B79AFF"/>
                </a:solidFill>
              </a:rPr>
              <a:t>准入结果可解释、可追责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69C9C-DD11-4745-AA39-9578C5EC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C8A85-91DA-497A-8086-C1F17823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重要性与置信度决定价值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927F6-C37C-4D00-BF78-ECEC21EF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4E0FA-4BF3-4E61-9775-2906E052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敏感性与权限构成硬边界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31D41-9BB9-4554-AF89-682680C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99099-9CC9-4D21-B106-E466B98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命中规则和拒绝原因进入审计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1136B-34ED-471C-A9F3-7775CD9C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80050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e1dff3f1e43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65F4-322F-4143-8483-1563C49D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31051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071018">
              <a:alpha val="88000"/>
            </a:srgbClr>
          </a:solidFill>
          <a:ln xmlns:a="http://schemas.openxmlformats.org/drawingml/2006/main" w="9525">
            <a:solidFill>
              <a:srgbClr val="4BD39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76874-9E74-4FC6-AF1D-B1D237E4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47850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混合检索解决的</a:t>
            </a:r>
          </a:p>
          <a:p xmlns:a="http://schemas.openxmlformats.org/drawingml/2006/main">
            <a:pPr algn="l"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不是‘相似’，而是‘相关’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C80C3-FC60-43AB-85D4-A9028F0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关键词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0F6AA-94DF-45A0-87D3-BA953D9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语义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23EFA-3513-4512-A23B-77764F86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2A3FA-F517-4556-BFB2-14904B84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260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图关系把 supports、updates、conflicts_with 直接带入召回结果。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BC3E0-5527-49CA-9E50-4509EFF8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93381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76f027ff64d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9ED21-71BD-4A51-82F6-8F998DE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3181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071018">
              <a:alpha val="88000"/>
            </a:srgbClr>
          </a:solidFill>
          <a:ln xmlns:a="http://schemas.openxmlformats.org/drawingml/2006/main" w="9525">
            <a:solidFill>
              <a:srgbClr val="FFBD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4F613-025D-46B8-9CDC-F62AB22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Dreaming 把短期价值</a:t>
            </a:r>
          </a:p>
          <a:p xmlns:a="http://schemas.openxmlformats.org/drawingml/2006/main">
            <a:pPr algn="l"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转成长期资产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123B4-8C91-4737-B56A-24B1D75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D68"/>
                </a:solidFill>
              </a:defRPr>
            </a:pPr>
            <a:r>
              <a:rPr sz="1275" b="1">
                <a:solidFill>
                  <a:srgbClr val="FFBD68"/>
                </a:solidFill>
              </a:rPr>
              <a:t>23:00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A0950-B99C-48F9-9780-8D9998EF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99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每日北京时间自动触发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5009D-DFE4-495F-B0CA-D35FC640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D68"/>
                </a:solidFill>
              </a:defRPr>
            </a:pPr>
            <a:r>
              <a:rPr sz="1275" b="1">
                <a:solidFill>
                  <a:srgbClr val="FFBD68"/>
                </a:solidFill>
              </a:rPr>
              <a:t>1 STM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41529-3C95-4032-AE47-0FE28021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每次模型请求只处理一条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C28C0-C98A-4006-BCF7-CCDC060C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BD39B"/>
                </a:solidFill>
              </a:defRPr>
            </a:pPr>
            <a:r>
              <a:rPr sz="1275" b="1">
                <a:solidFill>
                  <a:srgbClr val="4BD39B"/>
                </a:solidFill>
              </a:rPr>
              <a:t>3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10A48-BCCF-44A6-B973-A6D43710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767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consolidate / observe / drop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7FE8F-A2D8-4C17-980B-F4DECAAB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09874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c4f18eb2f45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CB704-3F7C-407D-9504-31724FDD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3352800" cy="3543300"/>
          </a:xfrm>
          <a:prstGeom xmlns:a="http://schemas.openxmlformats.org/drawingml/2006/main" prst="roundRect">
            <a:avLst>
              <a:gd name="adj" fmla="val 1705"/>
            </a:avLst>
          </a:prstGeom>
          <a:solidFill xmlns:a="http://schemas.openxmlformats.org/drawingml/2006/main">
            <a:srgbClr val="071018">
              <a:alpha val="88000"/>
            </a:srgbClr>
          </a:solidFill>
          <a:ln xmlns:a="http://schemas.openxmlformats.org/drawingml/2006/main" w="9525">
            <a:solidFill>
              <a:srgbClr val="4ED6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A85B0-D5C5-41A9-837A-8008EA54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288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模型看到的不是记忆列表</a:t>
            </a:r>
          </a:p>
          <a:p xmlns:a="http://schemas.openxmlformats.org/drawingml/2006/main">
            <a:pPr algn="l"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而是预算编排后的上下文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0ED64-3022-480A-BC1A-B087B69C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D6E8"/>
                </a:solidFill>
              </a:defRPr>
            </a:pPr>
            <a:r>
              <a:rPr sz="900" b="1">
                <a:solidFill>
                  <a:srgbClr val="4ED6E8"/>
                </a:solidFill>
              </a:rPr>
              <a:t>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84480-A055-4C73-B665-79CCA822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稳定画像与长期偏好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73588-7A32-4A6E-B45C-914E07A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D6E8"/>
                </a:solidFill>
              </a:defRPr>
            </a:pPr>
            <a:r>
              <a:rPr sz="900" b="1">
                <a:solidFill>
                  <a:srgbClr val="4ED6E8"/>
                </a:solidFill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A0099-025C-4FDB-B548-DA86D9C1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与当前任务最相关的事实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FFA5E-04ED-41EE-98DD-EE3F126A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100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D39B"/>
                </a:solidFill>
              </a:defRPr>
            </a:pPr>
            <a:r>
              <a:rPr sz="900" b="1">
                <a:solidFill>
                  <a:srgbClr val="4BD39B"/>
                </a:solidFill>
              </a:rPr>
              <a:t>CONFLICTS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0B053-9039-4764-97AB-692E0AC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52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不兼容主张显式提示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4E41B-CB59-4BE1-8026-057C366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D39B"/>
                </a:solidFill>
              </a:defRPr>
            </a:pPr>
            <a:r>
              <a:rPr sz="900" b="1">
                <a:solidFill>
                  <a:srgbClr val="4BD39B"/>
                </a:solidFill>
              </a:rPr>
              <a:t>CITATIONS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04C34-0AD8-422B-9BC4-420C46AB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0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每条结论都可回链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C18B5-A559-4F61-8056-E1121719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1641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84CD6-9486-4EDF-88BE-939C6F7C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83B79-8B5A-41B0-813A-A9344AA4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NEXCORE / CONTEXT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0424A-ADB5-4BCE-80CD-2061ECDB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8F2F4"/>
                </a:solidFill>
              </a:defRPr>
            </a:pPr>
            <a:r>
              <a:rPr sz="3450" b="1">
                <a:solidFill>
                  <a:srgbClr val="E8F2F4"/>
                </a:solidFill>
              </a:rPr>
              <a:t>一套让智能体记得住，</a:t>
            </a:r>
          </a:p>
          <a:p xmlns:a="http://schemas.openxmlformats.org/drawingml/2006/main">
            <a:pPr algn="l">
              <a:defRPr sz="3450" b="1">
                <a:solidFill>
                  <a:srgbClr val="E8F2F4"/>
                </a:solidFill>
              </a:defRPr>
            </a:pPr>
            <a:r>
              <a:rPr sz="3450" b="1">
                <a:solidFill>
                  <a:srgbClr val="E8F2F4"/>
                </a:solidFill>
              </a:rPr>
              <a:t>也解释得清的记忆基础设施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930D1-CA45-44F0-A0D7-6F9E0B36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8A0AA"/>
                </a:solidFill>
              </a:defRPr>
            </a:pPr>
            <a:r>
              <a:rPr sz="1650" b="0">
                <a:solidFill>
                  <a:srgbClr val="88A0AA"/>
                </a:solidFill>
              </a:rPr>
              <a:t>客户最终获得的不是更多上下文，而是更可信的上下文。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85C7F-B34D-406E-A025-9AA2AF3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4003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4ED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7F152-8F76-40CE-9A95-E660BE14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5F558-F728-44FA-ABFA-DF5CA6E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原始来源持续可回链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B7D4F-5F9A-4405-9D29-4999F684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38600"/>
            <a:ext cx="24003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4BD3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A42DE-81A5-4E93-9633-F9240C5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48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D39B"/>
                </a:solidFill>
              </a:defRPr>
            </a:pPr>
            <a:r>
              <a:rPr sz="975" b="1">
                <a:solidFill>
                  <a:srgbClr val="4BD39B"/>
                </a:solidFill>
              </a:rPr>
              <a:t>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95130-0776-497A-A6B7-3587713A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01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支持、更新与冲突可计算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A0411-09AB-46CC-946A-33B19776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24003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B79A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0B255-CB1C-476C-AFF1-14142E82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9AFF"/>
                </a:solidFill>
              </a:defRPr>
            </a:pPr>
            <a:r>
              <a:rPr sz="975" b="1">
                <a:solidFill>
                  <a:srgbClr val="B79A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9A530-F9D4-4A1E-BB10-92A58838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权限和敏感性贯穿全链路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E69C7-A65C-4CD7-B734-4150F77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24003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FFBD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86DBC-7E02-4293-BF97-D01A1F84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8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D68"/>
                </a:solidFill>
              </a:defRPr>
            </a:pPr>
            <a:r>
              <a:rPr sz="975" b="1">
                <a:solidFill>
                  <a:srgbClr val="FFBD68"/>
                </a:solidFill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A0F9B-7496-4395-9B45-AC491E29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101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每次抽取、准入和压缩都有 trace</a:t>
            </a:r>
          </a:p>
        </p:txBody>
      </p:sp>
    </p:spTree>
    <p:extLst>
      <p:ext uri="{BB962C8B-B14F-4D97-AF65-F5344CB8AC3E}">
        <p14:creationId xmlns:p14="http://schemas.microsoft.com/office/powerpoint/2010/main" val="1560412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2026-08-07T06:56:26.4230000Z</dcterms:created>
  <dcterms:modified xsi:type="dcterms:W3CDTF">2026-08-07T06:56:26.4230000Z</dcterms:modified>
</coreProperties>
</file>