
<file path=[Content_Types].xml><?xml version="1.0" encoding="utf-8"?>
<Types xmlns="http://schemas.openxmlformats.org/package/2006/content-types"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开场先建立产品定位：这不是一个简单的向量数据库，而是一套以证据为基础、可追溯、可治理的智能体记忆系统。</a:t>
            </a:r>
          </a:p>
          <a:p/>
          <a:p>
            <a:r>
              <a:t>[Sources]</a:t>
            </a:r>
          </a:p>
          <a:p>
            <a:r>
              <a:t>- Internal video: apps/video/out/memory-engine-demo.mp4</a:t>
            </a:r>
          </a:p>
          <a:p>
            <a:r>
              <a:t>- Internal specification: openspec/specs/context-engine/spec.md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解释主链路：Agent 或连接器先写入 MemoryEvent，系统把原始证据落到 Data Lake，再融合成 FactItem，最后进入 STM 准入。强调事实生成在记忆准入之前。</a:t>
            </a:r>
          </a:p>
          <a:p/>
          <a:p>
            <a:r>
              <a:t>[Sources]</a:t>
            </a:r>
          </a:p>
          <a:p>
            <a:r>
              <a:t>- Internal source: apps/video/src/MemoryEngineVideo.tsx</a:t>
            </a:r>
          </a:p>
          <a:p>
            <a:r>
              <a:t>- Internal specification: openspec/specs/context-engine/spec.md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逐项解释 STM 的七类准入信号。重点说明敏感信息不是依靠模型自行判断，而是由系统规则决定 rejected 或 pending_confirm。</a:t>
            </a:r>
          </a:p>
          <a:p/>
          <a:p>
            <a:r>
              <a:t>[Sources]</a:t>
            </a:r>
          </a:p>
          <a:p>
            <a:r>
              <a:t>- Internal prompt: STM到LTM七维评分Prompt.md</a:t>
            </a:r>
          </a:p>
          <a:p>
            <a:r>
              <a:t>- Internal specification: openspec/specs/context-engine/spec.md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 graph store 是召回的组成部分，不是事后展示。关键词、向量、图邻域、时间和反馈共同形成候选排序，冲突关系会继续传播到 Context Pack。</a:t>
            </a:r>
          </a:p>
          <a:p/>
          <a:p>
            <a:r>
              <a:t>[Sources]</a:t>
            </a:r>
          </a:p>
          <a:p>
            <a:r>
              <a:t>- Internal change: openspec/changes/add-memory-graph-query-api</a:t>
            </a:r>
          </a:p>
          <a:p>
            <a:r>
              <a:t>- Internal specification: openspec/specs/context-engine/spec.md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介绍 Dreaming 的调度和抢占机制：后台任务可以暂停并从 checkpoint 恢复，前台用户交互始终优先。巩固成功时 LTM 接管来源事实和证据关系。</a:t>
            </a:r>
          </a:p>
          <a:p/>
          <a:p>
            <a:r>
              <a:t>[Sources]</a:t>
            </a:r>
          </a:p>
          <a:p>
            <a:r>
              <a:t>- Internal design: Context-Engine-做梦巩固调度机制实现方案.md</a:t>
            </a:r>
          </a:p>
          <a:p>
            <a:r>
              <a:t>- Internal source: apps/backend/src/modules/context-engine/dreaming-worker.ts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说明 R2 组装层如何分配 token 预算。Context Pack 同时输出 citations、conflicts、compressionSteps 和 dropped reasons，使 Agent 能够在有限窗口中使用最重要的上下文。</a:t>
            </a:r>
          </a:p>
          <a:p/>
          <a:p>
            <a:r>
              <a:t>[Sources]</a:t>
            </a:r>
          </a:p>
          <a:p>
            <a:r>
              <a:t>- Internal source: apps/backend/src/modules/context-engine/assemble-context.ts</a:t>
            </a:r>
          </a:p>
          <a:p>
            <a:r>
              <a:t>- Internal specification: openspec/specs/context-engine/spec.md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收束时把技术能力转译成客户价值：证据可回链、关系可计算、权限可治理、过程可审计。根据客户场景进入问答或演示真实调试台。</a:t>
            </a:r>
          </a:p>
          <a:p/>
          <a:p>
            <a:r>
              <a:t>[Sources]</a:t>
            </a:r>
          </a:p>
          <a:p>
            <a:r>
              <a:t>- Internal product documentation: PRD.md</a:t>
            </a:r>
          </a:p>
          <a:p>
            <a:r>
              <a:t>- Internal specification: openspec/specs/context-engine/spec.md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GI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8256270" y="1268730"/>
            <a:ext cx="3524250" cy="4333875"/>
          </a:xfrm>
          <a:prstGeom prst="rect">
            <a:avLst/>
          </a:prstGeom>
          <a:solidFill>
            <a:srgbClr val="071018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3" name="takeaway-先保留证据，再生成记忆"/>
          <p:cNvSpPr>
            <a:spLocks noGrp="1"/>
          </p:cNvSpPr>
          <p:nvPr/>
        </p:nvSpPr>
        <p:spPr>
          <a:xfrm>
            <a:off x="8561070" y="1706880"/>
            <a:ext cx="2952750" cy="3143250"/>
          </a:xfrm>
          <a:prstGeom prst="roundRect">
            <a:avLst>
              <a:gd name="adj" fmla="val 1935"/>
            </a:avLst>
          </a:prstGeom>
          <a:solidFill>
            <a:srgbClr val="0C1822">
              <a:alpha val="92000"/>
            </a:srgbClr>
          </a:solidFill>
          <a:ln w="9525">
            <a:solidFill>
              <a:srgbClr val="4ED6E8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8789670" y="1916430"/>
            <a:ext cx="2495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4ED6E8"/>
                </a:solidFill>
              </a:defRPr>
            </a:pPr>
            <a:r>
              <a:rPr sz="975" b="1">
                <a:solidFill>
                  <a:srgbClr val="4ED6E8"/>
                </a:solidFill>
              </a:rPr>
              <a:t>客户应记住</a:t>
            </a:r>
            <a:endParaRPr sz="975" b="1">
              <a:solidFill>
                <a:srgbClr val="4ED6E8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789670" y="2278380"/>
            <a:ext cx="24955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E8F2F4"/>
                </a:solidFill>
              </a:defRPr>
            </a:pPr>
            <a:r>
              <a:rPr sz="1800" b="1">
                <a:solidFill>
                  <a:srgbClr val="E8F2F4"/>
                </a:solidFill>
              </a:rPr>
              <a:t>先保留证据，再生成记忆</a:t>
            </a:r>
            <a:endParaRPr sz="1800" b="1">
              <a:solidFill>
                <a:srgbClr val="E8F2F4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789670" y="3040380"/>
            <a:ext cx="76200" cy="76200"/>
          </a:xfrm>
          <a:prstGeom prst="roundRect">
            <a:avLst>
              <a:gd name="adj" fmla="val 50000"/>
            </a:avLst>
          </a:prstGeom>
          <a:solidFill>
            <a:srgbClr val="4ED6E8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018270" y="2926080"/>
            <a:ext cx="2266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88A0AA"/>
                </a:solidFill>
              </a:defRPr>
            </a:pPr>
            <a:r>
              <a:rPr sz="1125" b="0">
                <a:solidFill>
                  <a:srgbClr val="88A0AA"/>
                </a:solidFill>
              </a:rPr>
              <a:t>MemoryEvent 入口统一</a:t>
            </a:r>
            <a:endParaRPr sz="1125" b="0">
              <a:solidFill>
                <a:srgbClr val="88A0AA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89670" y="3554730"/>
            <a:ext cx="76200" cy="76200"/>
          </a:xfrm>
          <a:prstGeom prst="roundRect">
            <a:avLst>
              <a:gd name="adj" fmla="val 50000"/>
            </a:avLst>
          </a:prstGeom>
          <a:solidFill>
            <a:srgbClr val="4ED6E8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018270" y="3440430"/>
            <a:ext cx="2266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88A0AA"/>
                </a:solidFill>
              </a:defRPr>
            </a:pPr>
            <a:r>
              <a:rPr sz="1125" b="0">
                <a:solidFill>
                  <a:srgbClr val="88A0AA"/>
                </a:solidFill>
              </a:rPr>
              <a:t>SourceRef 与权限快照随链路传递</a:t>
            </a:r>
            <a:endParaRPr sz="1125" b="0">
              <a:solidFill>
                <a:srgbClr val="88A0AA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8789670" y="4069080"/>
            <a:ext cx="76200" cy="76200"/>
          </a:xfrm>
          <a:prstGeom prst="roundRect">
            <a:avLst>
              <a:gd name="adj" fmla="val 50000"/>
            </a:avLst>
          </a:prstGeom>
          <a:solidFill>
            <a:srgbClr val="4ED6E8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9018270" y="3954780"/>
            <a:ext cx="2266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88A0AA"/>
                </a:solidFill>
              </a:defRPr>
            </a:pPr>
            <a:r>
              <a:rPr sz="1125" b="0">
                <a:solidFill>
                  <a:srgbClr val="88A0AA"/>
                </a:solidFill>
              </a:rPr>
              <a:t>失败和不支持模态仍可审计重放</a:t>
            </a:r>
            <a:endParaRPr sz="1125" b="0">
              <a:solidFill>
                <a:srgbClr val="88A0AA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0942320" y="612648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0">
                <a:solidFill>
                  <a:srgbClr val="88A0AA"/>
                </a:solidFill>
              </a:defRPr>
            </a:pPr>
            <a:r>
              <a:rPr sz="975" b="0">
                <a:solidFill>
                  <a:srgbClr val="88A0AA"/>
                </a:solidFill>
              </a:rPr>
              <a:t>01</a:t>
            </a:r>
            <a:endParaRPr sz="975" b="0">
              <a:solidFill>
                <a:srgbClr val="88A0AA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圆角矩形 1"/>
          <p:cNvSpPr>
            <a:spLocks noGrp="1"/>
          </p:cNvSpPr>
          <p:nvPr/>
        </p:nvSpPr>
        <p:spPr>
          <a:xfrm>
            <a:off x="8420100" y="1524000"/>
            <a:ext cx="2990850" cy="3429000"/>
          </a:xfrm>
          <a:prstGeom prst="roundRect">
            <a:avLst>
              <a:gd name="adj" fmla="val 1911"/>
            </a:avLst>
          </a:prstGeom>
          <a:solidFill>
            <a:srgbClr val="071018">
              <a:alpha val="88000"/>
            </a:srgbClr>
          </a:solidFill>
          <a:ln w="9525">
            <a:solidFill>
              <a:srgbClr val="B79AFF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686800" y="1809750"/>
            <a:ext cx="24574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025" b="1">
                <a:solidFill>
                  <a:srgbClr val="E8F2F4"/>
                </a:solidFill>
              </a:defRPr>
            </a:pPr>
            <a:r>
              <a:rPr sz="2025" b="1">
                <a:solidFill>
                  <a:srgbClr val="E8F2F4"/>
                </a:solidFill>
              </a:rPr>
              <a:t>不是所有事实</a:t>
            </a:r>
            <a:endParaRPr sz="2025" b="1">
              <a:solidFill>
                <a:srgbClr val="E8F2F4"/>
              </a:solidFill>
            </a:endParaRPr>
          </a:p>
          <a:p>
            <a:pPr algn="l">
              <a:buNone/>
              <a:defRPr sz="2025" b="1">
                <a:solidFill>
                  <a:srgbClr val="E8F2F4"/>
                </a:solidFill>
              </a:defRPr>
            </a:pPr>
            <a:r>
              <a:rPr sz="2025" b="1">
                <a:solidFill>
                  <a:srgbClr val="E8F2F4"/>
                </a:solidFill>
              </a:rPr>
              <a:t>都应该变成记忆</a:t>
            </a:r>
            <a:endParaRPr sz="2025" b="1">
              <a:solidFill>
                <a:srgbClr val="E8F2F4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686800" y="2724150"/>
            <a:ext cx="2457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1">
                <a:solidFill>
                  <a:srgbClr val="B79AFF"/>
                </a:solidFill>
              </a:defRPr>
            </a:pPr>
            <a:r>
              <a:rPr sz="1200" b="1">
                <a:solidFill>
                  <a:srgbClr val="B79AFF"/>
                </a:solidFill>
              </a:rPr>
              <a:t>准入结果可解释、可追责</a:t>
            </a:r>
            <a:endParaRPr sz="1200" b="1">
              <a:solidFill>
                <a:srgbClr val="B79AF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686800" y="32575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4ED6E8"/>
                </a:solidFill>
              </a:defRPr>
            </a:pPr>
            <a:r>
              <a:rPr sz="975" b="1">
                <a:solidFill>
                  <a:srgbClr val="4ED6E8"/>
                </a:solidFill>
              </a:rPr>
              <a:t>01</a:t>
            </a:r>
            <a:endParaRPr sz="975" b="1">
              <a:solidFill>
                <a:srgbClr val="4ED6E8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9144000" y="3200400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88A0AA"/>
                </a:solidFill>
              </a:defRPr>
            </a:pPr>
            <a:r>
              <a:rPr sz="1125" b="0">
                <a:solidFill>
                  <a:srgbClr val="88A0AA"/>
                </a:solidFill>
              </a:rPr>
              <a:t>重要性与置信度决定价值</a:t>
            </a:r>
            <a:endParaRPr sz="1125" b="0">
              <a:solidFill>
                <a:srgbClr val="88A0A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86800" y="37147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4ED6E8"/>
                </a:solidFill>
              </a:defRPr>
            </a:pPr>
            <a:r>
              <a:rPr sz="975" b="1">
                <a:solidFill>
                  <a:srgbClr val="4ED6E8"/>
                </a:solidFill>
              </a:rPr>
              <a:t>02</a:t>
            </a:r>
            <a:endParaRPr sz="975" b="1">
              <a:solidFill>
                <a:srgbClr val="4ED6E8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0" y="3657600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88A0AA"/>
                </a:solidFill>
              </a:defRPr>
            </a:pPr>
            <a:r>
              <a:rPr sz="1125" b="0">
                <a:solidFill>
                  <a:srgbClr val="88A0AA"/>
                </a:solidFill>
              </a:rPr>
              <a:t>敏感性与权限构成硬边界</a:t>
            </a:r>
            <a:endParaRPr sz="1125" b="0">
              <a:solidFill>
                <a:srgbClr val="88A0AA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686800" y="417195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4ED6E8"/>
                </a:solidFill>
              </a:defRPr>
            </a:pPr>
            <a:r>
              <a:rPr sz="975" b="1">
                <a:solidFill>
                  <a:srgbClr val="4ED6E8"/>
                </a:solidFill>
              </a:rPr>
              <a:t>03</a:t>
            </a:r>
            <a:endParaRPr sz="975" b="1">
              <a:solidFill>
                <a:srgbClr val="4ED6E8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144000" y="4114800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88A0AA"/>
                </a:solidFill>
              </a:defRPr>
            </a:pPr>
            <a:r>
              <a:rPr sz="1125" b="0">
                <a:solidFill>
                  <a:srgbClr val="88A0AA"/>
                </a:solidFill>
              </a:rPr>
              <a:t>命中规则和拒绝原因进入审计</a:t>
            </a:r>
            <a:endParaRPr sz="1125" b="0">
              <a:solidFill>
                <a:srgbClr val="88A0AA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0801350" y="61150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0">
                <a:solidFill>
                  <a:srgbClr val="88A0AA"/>
                </a:solidFill>
              </a:defRPr>
            </a:pPr>
            <a:r>
              <a:rPr sz="975" b="0">
                <a:solidFill>
                  <a:srgbClr val="88A0AA"/>
                </a:solidFill>
              </a:rPr>
              <a:t>02</a:t>
            </a:r>
            <a:endParaRPr sz="975" b="0">
              <a:solidFill>
                <a:srgbClr val="88A0AA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圆角矩形 1"/>
          <p:cNvSpPr>
            <a:spLocks noGrp="1"/>
          </p:cNvSpPr>
          <p:nvPr/>
        </p:nvSpPr>
        <p:spPr>
          <a:xfrm>
            <a:off x="8382000" y="1562100"/>
            <a:ext cx="3105150" cy="2952750"/>
          </a:xfrm>
          <a:prstGeom prst="roundRect">
            <a:avLst>
              <a:gd name="adj" fmla="val 1935"/>
            </a:avLst>
          </a:prstGeom>
          <a:solidFill>
            <a:srgbClr val="071018">
              <a:alpha val="88000"/>
            </a:srgbClr>
          </a:solidFill>
          <a:ln w="9525">
            <a:solidFill>
              <a:srgbClr val="4BD39B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629650" y="1847850"/>
            <a:ext cx="26098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1">
                <a:solidFill>
                  <a:srgbClr val="E8F2F4"/>
                </a:solidFill>
              </a:defRPr>
            </a:pPr>
            <a:r>
              <a:rPr sz="1875" b="1">
                <a:solidFill>
                  <a:srgbClr val="E8F2F4"/>
                </a:solidFill>
              </a:rPr>
              <a:t>混合检索解决的</a:t>
            </a:r>
            <a:endParaRPr sz="1875" b="1">
              <a:solidFill>
                <a:srgbClr val="E8F2F4"/>
              </a:solidFill>
            </a:endParaRPr>
          </a:p>
          <a:p>
            <a:pPr algn="l">
              <a:buNone/>
              <a:defRPr sz="1875" b="1">
                <a:solidFill>
                  <a:srgbClr val="E8F2F4"/>
                </a:solidFill>
              </a:defRPr>
            </a:pPr>
            <a:r>
              <a:rPr sz="1875" b="1">
                <a:solidFill>
                  <a:srgbClr val="E8F2F4"/>
                </a:solidFill>
              </a:rPr>
              <a:t>不是‘相似’，而是‘相关’</a:t>
            </a:r>
            <a:endParaRPr sz="1875" b="1">
              <a:solidFill>
                <a:srgbClr val="E8F2F4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629650" y="2990850"/>
            <a:ext cx="685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1">
                <a:solidFill>
                  <a:srgbClr val="4ED6E8"/>
                </a:solidFill>
              </a:defRPr>
            </a:pPr>
            <a:r>
              <a:rPr sz="1125" b="1">
                <a:solidFill>
                  <a:srgbClr val="4ED6E8"/>
                </a:solidFill>
              </a:rPr>
              <a:t>关键词</a:t>
            </a:r>
            <a:endParaRPr sz="1125" b="1">
              <a:solidFill>
                <a:srgbClr val="4ED6E8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525000" y="2990850"/>
            <a:ext cx="685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1">
                <a:solidFill>
                  <a:srgbClr val="4ED6E8"/>
                </a:solidFill>
              </a:defRPr>
            </a:pPr>
            <a:r>
              <a:rPr sz="1125" b="1">
                <a:solidFill>
                  <a:srgbClr val="4ED6E8"/>
                </a:solidFill>
              </a:rPr>
              <a:t>语义</a:t>
            </a:r>
            <a:endParaRPr sz="1125" b="1">
              <a:solidFill>
                <a:srgbClr val="4ED6E8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420350" y="2990850"/>
            <a:ext cx="685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1">
                <a:solidFill>
                  <a:srgbClr val="4ED6E8"/>
                </a:solidFill>
              </a:defRPr>
            </a:pPr>
            <a:r>
              <a:rPr sz="1125" b="1">
                <a:solidFill>
                  <a:srgbClr val="4ED6E8"/>
                </a:solidFill>
              </a:rPr>
              <a:t>关系</a:t>
            </a:r>
            <a:endParaRPr sz="1125" b="1">
              <a:solidFill>
                <a:srgbClr val="4ED6E8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29650" y="3429000"/>
            <a:ext cx="26098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88A0AA"/>
                </a:solidFill>
              </a:defRPr>
            </a:pPr>
            <a:r>
              <a:rPr sz="1125" b="0">
                <a:solidFill>
                  <a:srgbClr val="88A0AA"/>
                </a:solidFill>
              </a:rPr>
              <a:t>图关系把 supports、updates、conflicts_with 直接带入召回结果。</a:t>
            </a:r>
            <a:endParaRPr sz="1125" b="0">
              <a:solidFill>
                <a:srgbClr val="88A0AA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801350" y="61150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0">
                <a:solidFill>
                  <a:srgbClr val="88A0AA"/>
                </a:solidFill>
              </a:defRPr>
            </a:pPr>
            <a:r>
              <a:rPr sz="975" b="0">
                <a:solidFill>
                  <a:srgbClr val="88A0AA"/>
                </a:solidFill>
              </a:rPr>
              <a:t>03</a:t>
            </a:r>
            <a:endParaRPr sz="975" b="0">
              <a:solidFill>
                <a:srgbClr val="88A0AA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圆角矩形 1"/>
          <p:cNvSpPr>
            <a:spLocks noGrp="1"/>
          </p:cNvSpPr>
          <p:nvPr/>
        </p:nvSpPr>
        <p:spPr>
          <a:xfrm>
            <a:off x="8305800" y="1695450"/>
            <a:ext cx="3181350" cy="3105150"/>
          </a:xfrm>
          <a:prstGeom prst="roundRect">
            <a:avLst>
              <a:gd name="adj" fmla="val 1840"/>
            </a:avLst>
          </a:prstGeom>
          <a:solidFill>
            <a:srgbClr val="071018">
              <a:alpha val="88000"/>
            </a:srgbClr>
          </a:solidFill>
          <a:ln w="9525">
            <a:solidFill>
              <a:srgbClr val="FFBD68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572500" y="1981200"/>
            <a:ext cx="26479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1">
                <a:solidFill>
                  <a:srgbClr val="E8F2F4"/>
                </a:solidFill>
              </a:defRPr>
            </a:pPr>
            <a:r>
              <a:rPr sz="1875" b="1">
                <a:solidFill>
                  <a:srgbClr val="E8F2F4"/>
                </a:solidFill>
              </a:rPr>
              <a:t>Dreaming 把短期价值</a:t>
            </a:r>
            <a:endParaRPr sz="1875" b="1">
              <a:solidFill>
                <a:srgbClr val="E8F2F4"/>
              </a:solidFill>
            </a:endParaRPr>
          </a:p>
          <a:p>
            <a:pPr algn="l">
              <a:buNone/>
              <a:defRPr sz="1875" b="1">
                <a:solidFill>
                  <a:srgbClr val="E8F2F4"/>
                </a:solidFill>
              </a:defRPr>
            </a:pPr>
            <a:r>
              <a:rPr sz="1875" b="1">
                <a:solidFill>
                  <a:srgbClr val="E8F2F4"/>
                </a:solidFill>
              </a:rPr>
              <a:t>转成长期资产</a:t>
            </a:r>
            <a:endParaRPr sz="1875" b="1">
              <a:solidFill>
                <a:srgbClr val="E8F2F4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572500" y="3028950"/>
            <a:ext cx="1009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1">
                <a:solidFill>
                  <a:srgbClr val="FFBD68"/>
                </a:solidFill>
              </a:defRPr>
            </a:pPr>
            <a:r>
              <a:rPr sz="1275" b="1">
                <a:solidFill>
                  <a:srgbClr val="FFBD68"/>
                </a:solidFill>
              </a:rPr>
              <a:t>23:00</a:t>
            </a:r>
            <a:endParaRPr sz="1275" b="1">
              <a:solidFill>
                <a:srgbClr val="FFBD68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58350" y="3009900"/>
            <a:ext cx="1504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0">
                <a:solidFill>
                  <a:srgbClr val="88A0AA"/>
                </a:solidFill>
              </a:defRPr>
            </a:pPr>
            <a:r>
              <a:rPr sz="1050" b="0">
                <a:solidFill>
                  <a:srgbClr val="88A0AA"/>
                </a:solidFill>
              </a:rPr>
              <a:t>每日北京时间自动触发</a:t>
            </a:r>
            <a:endParaRPr sz="1050" b="0">
              <a:solidFill>
                <a:srgbClr val="88A0AA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572500" y="3562350"/>
            <a:ext cx="1009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1">
                <a:solidFill>
                  <a:srgbClr val="FFBD68"/>
                </a:solidFill>
              </a:defRPr>
            </a:pPr>
            <a:r>
              <a:rPr sz="1275" b="1">
                <a:solidFill>
                  <a:srgbClr val="FFBD68"/>
                </a:solidFill>
              </a:rPr>
              <a:t>1 STM</a:t>
            </a:r>
            <a:endParaRPr sz="1275" b="1">
              <a:solidFill>
                <a:srgbClr val="FFBD68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658350" y="3543300"/>
            <a:ext cx="1504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0">
                <a:solidFill>
                  <a:srgbClr val="88A0AA"/>
                </a:solidFill>
              </a:defRPr>
            </a:pPr>
            <a:r>
              <a:rPr sz="1050" b="0">
                <a:solidFill>
                  <a:srgbClr val="88A0AA"/>
                </a:solidFill>
              </a:rPr>
              <a:t>每次模型请求只处理一条</a:t>
            </a:r>
            <a:endParaRPr sz="1050" b="0">
              <a:solidFill>
                <a:srgbClr val="88A0AA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572500" y="4095750"/>
            <a:ext cx="1009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1">
                <a:solidFill>
                  <a:srgbClr val="4BD39B"/>
                </a:solidFill>
              </a:defRPr>
            </a:pPr>
            <a:r>
              <a:rPr sz="1275" b="1">
                <a:solidFill>
                  <a:srgbClr val="4BD39B"/>
                </a:solidFill>
              </a:rPr>
              <a:t>3 PATHS</a:t>
            </a:r>
            <a:endParaRPr sz="1275" b="1">
              <a:solidFill>
                <a:srgbClr val="4BD39B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658350" y="4076700"/>
            <a:ext cx="1504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0">
                <a:solidFill>
                  <a:srgbClr val="88A0AA"/>
                </a:solidFill>
              </a:defRPr>
            </a:pPr>
            <a:r>
              <a:rPr sz="1050" b="0">
                <a:solidFill>
                  <a:srgbClr val="88A0AA"/>
                </a:solidFill>
              </a:rPr>
              <a:t>consolidate / observe / drop</a:t>
            </a:r>
            <a:endParaRPr sz="1050" b="0">
              <a:solidFill>
                <a:srgbClr val="88A0AA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801350" y="61150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0">
                <a:solidFill>
                  <a:srgbClr val="88A0AA"/>
                </a:solidFill>
              </a:defRPr>
            </a:pPr>
            <a:r>
              <a:rPr sz="975" b="0">
                <a:solidFill>
                  <a:srgbClr val="88A0AA"/>
                </a:solidFill>
              </a:rPr>
              <a:t>04</a:t>
            </a:r>
            <a:endParaRPr sz="975" b="0">
              <a:solidFill>
                <a:srgbClr val="88A0AA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圆角矩形 1"/>
          <p:cNvSpPr>
            <a:spLocks noGrp="1"/>
          </p:cNvSpPr>
          <p:nvPr/>
        </p:nvSpPr>
        <p:spPr>
          <a:xfrm>
            <a:off x="8172450" y="1524000"/>
            <a:ext cx="3352800" cy="3543300"/>
          </a:xfrm>
          <a:prstGeom prst="roundRect">
            <a:avLst>
              <a:gd name="adj" fmla="val 1705"/>
            </a:avLst>
          </a:prstGeom>
          <a:solidFill>
            <a:srgbClr val="071018">
              <a:alpha val="88000"/>
            </a:srgbClr>
          </a:solidFill>
          <a:ln w="9525">
            <a:solidFill>
              <a:srgbClr val="4ED6E8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439150" y="1828800"/>
            <a:ext cx="2819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E8F2F4"/>
                </a:solidFill>
              </a:defRPr>
            </a:pPr>
            <a:r>
              <a:rPr sz="1800" b="1">
                <a:solidFill>
                  <a:srgbClr val="E8F2F4"/>
                </a:solidFill>
              </a:rPr>
              <a:t>模型看到的不是记忆列表</a:t>
            </a:r>
            <a:endParaRPr sz="1800" b="1">
              <a:solidFill>
                <a:srgbClr val="E8F2F4"/>
              </a:solidFill>
            </a:endParaRPr>
          </a:p>
          <a:p>
            <a:pPr algn="l">
              <a:buNone/>
              <a:defRPr sz="1800" b="1">
                <a:solidFill>
                  <a:srgbClr val="E8F2F4"/>
                </a:solidFill>
              </a:defRPr>
            </a:pPr>
            <a:r>
              <a:rPr sz="1800" b="1">
                <a:solidFill>
                  <a:srgbClr val="E8F2F4"/>
                </a:solidFill>
              </a:rPr>
              <a:t>而是预算编排后的上下文</a:t>
            </a:r>
            <a:endParaRPr sz="1800" b="1">
              <a:solidFill>
                <a:srgbClr val="E8F2F4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439150" y="2895600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00" b="1">
                <a:solidFill>
                  <a:srgbClr val="4ED6E8"/>
                </a:solidFill>
              </a:defRPr>
            </a:pPr>
            <a:r>
              <a:rPr sz="900" b="1">
                <a:solidFill>
                  <a:srgbClr val="4ED6E8"/>
                </a:solidFill>
              </a:rPr>
              <a:t>PROFILE</a:t>
            </a:r>
            <a:endParaRPr sz="900" b="1">
              <a:solidFill>
                <a:srgbClr val="4ED6E8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410700" y="28384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0">
                <a:solidFill>
                  <a:srgbClr val="88A0AA"/>
                </a:solidFill>
              </a:defRPr>
            </a:pPr>
            <a:r>
              <a:rPr sz="1050" b="0">
                <a:solidFill>
                  <a:srgbClr val="88A0AA"/>
                </a:solidFill>
              </a:rPr>
              <a:t>稳定画像与长期偏好</a:t>
            </a:r>
            <a:endParaRPr sz="1050" b="0">
              <a:solidFill>
                <a:srgbClr val="88A0AA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439150" y="3352800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00" b="1">
                <a:solidFill>
                  <a:srgbClr val="4ED6E8"/>
                </a:solidFill>
              </a:defRPr>
            </a:pPr>
            <a:r>
              <a:rPr sz="900" b="1">
                <a:solidFill>
                  <a:srgbClr val="4ED6E8"/>
                </a:solidFill>
              </a:rPr>
              <a:t>TASK</a:t>
            </a:r>
            <a:endParaRPr sz="900" b="1">
              <a:solidFill>
                <a:srgbClr val="4ED6E8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410700" y="32956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0">
                <a:solidFill>
                  <a:srgbClr val="88A0AA"/>
                </a:solidFill>
              </a:defRPr>
            </a:pPr>
            <a:r>
              <a:rPr sz="1050" b="0">
                <a:solidFill>
                  <a:srgbClr val="88A0AA"/>
                </a:solidFill>
              </a:rPr>
              <a:t>与当前任务最相关的事实</a:t>
            </a:r>
            <a:endParaRPr sz="1050" b="0">
              <a:solidFill>
                <a:srgbClr val="88A0AA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439150" y="3810000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00" b="1">
                <a:solidFill>
                  <a:srgbClr val="4BD39B"/>
                </a:solidFill>
              </a:defRPr>
            </a:pPr>
            <a:r>
              <a:rPr sz="900" b="1">
                <a:solidFill>
                  <a:srgbClr val="4BD39B"/>
                </a:solidFill>
              </a:rPr>
              <a:t>CONFLICTS</a:t>
            </a:r>
            <a:endParaRPr sz="900" b="1">
              <a:solidFill>
                <a:srgbClr val="4BD39B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410700" y="37528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0">
                <a:solidFill>
                  <a:srgbClr val="88A0AA"/>
                </a:solidFill>
              </a:defRPr>
            </a:pPr>
            <a:r>
              <a:rPr sz="1050" b="0">
                <a:solidFill>
                  <a:srgbClr val="88A0AA"/>
                </a:solidFill>
              </a:rPr>
              <a:t>不兼容主张显式提示</a:t>
            </a:r>
            <a:endParaRPr sz="1050" b="0">
              <a:solidFill>
                <a:srgbClr val="88A0AA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439150" y="4267200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00" b="1">
                <a:solidFill>
                  <a:srgbClr val="4BD39B"/>
                </a:solidFill>
              </a:defRPr>
            </a:pPr>
            <a:r>
              <a:rPr sz="900" b="1">
                <a:solidFill>
                  <a:srgbClr val="4BD39B"/>
                </a:solidFill>
              </a:rPr>
              <a:t>CITATIONS</a:t>
            </a:r>
            <a:endParaRPr sz="900" b="1">
              <a:solidFill>
                <a:srgbClr val="4BD39B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410700" y="42100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0">
                <a:solidFill>
                  <a:srgbClr val="88A0AA"/>
                </a:solidFill>
              </a:defRPr>
            </a:pPr>
            <a:r>
              <a:rPr sz="1050" b="0">
                <a:solidFill>
                  <a:srgbClr val="88A0AA"/>
                </a:solidFill>
              </a:rPr>
              <a:t>每条结论都可回链</a:t>
            </a:r>
            <a:endParaRPr sz="1050" b="0">
              <a:solidFill>
                <a:srgbClr val="88A0AA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0801350" y="61150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75" b="0">
                <a:solidFill>
                  <a:srgbClr val="88A0AA"/>
                </a:solidFill>
              </a:defRPr>
            </a:pPr>
            <a:r>
              <a:rPr sz="975" b="0">
                <a:solidFill>
                  <a:srgbClr val="88A0AA"/>
                </a:solidFill>
              </a:rPr>
              <a:t>05</a:t>
            </a:r>
            <a:endParaRPr sz="975" b="0">
              <a:solidFill>
                <a:srgbClr val="88A0AA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矩形 16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5524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1">
                <a:solidFill>
                  <a:srgbClr val="4ED6E8"/>
                </a:solidFill>
              </a:defRPr>
            </a:pPr>
            <a:r>
              <a:rPr sz="1125" b="1">
                <a:solidFill>
                  <a:srgbClr val="4ED6E8"/>
                </a:solidFill>
              </a:rPr>
              <a:t>NEXCORE / CONTEXT ENGINE</a:t>
            </a:r>
            <a:endParaRPr sz="1125" b="1">
              <a:solidFill>
                <a:srgbClr val="4ED6E8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257300"/>
            <a:ext cx="68580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450" b="1">
                <a:solidFill>
                  <a:srgbClr val="E8F2F4"/>
                </a:solidFill>
              </a:defRPr>
            </a:pPr>
            <a:r>
              <a:rPr sz="3450" b="1">
                <a:solidFill>
                  <a:srgbClr val="E8F2F4"/>
                </a:solidFill>
              </a:rPr>
              <a:t>一套让智能体记得住，</a:t>
            </a:r>
            <a:endParaRPr sz="3450" b="1">
              <a:solidFill>
                <a:srgbClr val="E8F2F4"/>
              </a:solidFill>
            </a:endParaRPr>
          </a:p>
          <a:p>
            <a:pPr algn="l">
              <a:buNone/>
              <a:defRPr sz="3450" b="1">
                <a:solidFill>
                  <a:srgbClr val="E8F2F4"/>
                </a:solidFill>
              </a:defRPr>
            </a:pPr>
            <a:r>
              <a:rPr sz="3450" b="1">
                <a:solidFill>
                  <a:srgbClr val="E8F2F4"/>
                </a:solidFill>
              </a:rPr>
              <a:t>也解释得清的记忆基础设施</a:t>
            </a:r>
            <a:endParaRPr sz="3450" b="1">
              <a:solidFill>
                <a:srgbClr val="E8F2F4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2724150"/>
            <a:ext cx="685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0">
                <a:solidFill>
                  <a:srgbClr val="88A0AA"/>
                </a:solidFill>
              </a:defRPr>
            </a:pPr>
            <a:r>
              <a:rPr sz="1650" b="0">
                <a:solidFill>
                  <a:srgbClr val="88A0AA"/>
                </a:solidFill>
              </a:rPr>
              <a:t>客户最终获得的不是更多上下文，而是更可信的上下文。</a:t>
            </a:r>
            <a:endParaRPr sz="1650" b="0">
              <a:solidFill>
                <a:srgbClr val="88A0AA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85800" y="4038600"/>
            <a:ext cx="2400300" cy="1162050"/>
          </a:xfrm>
          <a:prstGeom prst="roundRect">
            <a:avLst>
              <a:gd name="adj" fmla="val 4918"/>
            </a:avLst>
          </a:prstGeom>
          <a:solidFill>
            <a:srgbClr val="0C1822">
              <a:alpha val="92000"/>
            </a:srgbClr>
          </a:solidFill>
          <a:ln w="9525">
            <a:solidFill>
              <a:srgbClr val="4ED6E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95350" y="4248150"/>
            <a:ext cx="1981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4ED6E8"/>
                </a:solidFill>
              </a:defRPr>
            </a:pPr>
            <a:r>
              <a:rPr sz="975" b="1">
                <a:solidFill>
                  <a:srgbClr val="4ED6E8"/>
                </a:solidFill>
              </a:rPr>
              <a:t>EVIDENCE</a:t>
            </a:r>
            <a:endParaRPr sz="975" b="1">
              <a:solidFill>
                <a:srgbClr val="4ED6E8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95350" y="4610100"/>
            <a:ext cx="1981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0">
                <a:solidFill>
                  <a:srgbClr val="E8F2F4"/>
                </a:solidFill>
              </a:defRPr>
            </a:pPr>
            <a:r>
              <a:rPr sz="1200" b="0">
                <a:solidFill>
                  <a:srgbClr val="E8F2F4"/>
                </a:solidFill>
              </a:rPr>
              <a:t>原始来源持续可回链</a:t>
            </a:r>
            <a:endParaRPr sz="1200" b="0">
              <a:solidFill>
                <a:srgbClr val="E8F2F4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3409950" y="4038600"/>
            <a:ext cx="2400300" cy="1162050"/>
          </a:xfrm>
          <a:prstGeom prst="roundRect">
            <a:avLst>
              <a:gd name="adj" fmla="val 4918"/>
            </a:avLst>
          </a:prstGeom>
          <a:solidFill>
            <a:srgbClr val="0C1822">
              <a:alpha val="92000"/>
            </a:srgbClr>
          </a:solidFill>
          <a:ln w="9525">
            <a:solidFill>
              <a:srgbClr val="4BD39B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619500" y="4248150"/>
            <a:ext cx="1981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4BD39B"/>
                </a:solidFill>
              </a:defRPr>
            </a:pPr>
            <a:r>
              <a:rPr sz="975" b="1">
                <a:solidFill>
                  <a:srgbClr val="4BD39B"/>
                </a:solidFill>
              </a:rPr>
              <a:t>RELATION</a:t>
            </a:r>
            <a:endParaRPr sz="975" b="1">
              <a:solidFill>
                <a:srgbClr val="4BD39B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619500" y="4610100"/>
            <a:ext cx="1981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0">
                <a:solidFill>
                  <a:srgbClr val="E8F2F4"/>
                </a:solidFill>
              </a:defRPr>
            </a:pPr>
            <a:r>
              <a:rPr sz="1200" b="0">
                <a:solidFill>
                  <a:srgbClr val="E8F2F4"/>
                </a:solidFill>
              </a:rPr>
              <a:t>支持、更新与冲突可计算</a:t>
            </a:r>
            <a:endParaRPr sz="1200" b="0">
              <a:solidFill>
                <a:srgbClr val="E8F2F4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6134100" y="4038600"/>
            <a:ext cx="2400300" cy="1162050"/>
          </a:xfrm>
          <a:prstGeom prst="roundRect">
            <a:avLst>
              <a:gd name="adj" fmla="val 4918"/>
            </a:avLst>
          </a:prstGeom>
          <a:solidFill>
            <a:srgbClr val="0C1822">
              <a:alpha val="92000"/>
            </a:srgbClr>
          </a:solidFill>
          <a:ln w="9525">
            <a:solidFill>
              <a:srgbClr val="B79AF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343650" y="4248150"/>
            <a:ext cx="1981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B79AFF"/>
                </a:solidFill>
              </a:defRPr>
            </a:pPr>
            <a:r>
              <a:rPr sz="975" b="1">
                <a:solidFill>
                  <a:srgbClr val="B79AFF"/>
                </a:solidFill>
              </a:rPr>
              <a:t>GOVERNANCE</a:t>
            </a:r>
            <a:endParaRPr sz="975" b="1">
              <a:solidFill>
                <a:srgbClr val="B79AFF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343650" y="4610100"/>
            <a:ext cx="1981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0">
                <a:solidFill>
                  <a:srgbClr val="E8F2F4"/>
                </a:solidFill>
              </a:defRPr>
            </a:pPr>
            <a:r>
              <a:rPr sz="1200" b="0">
                <a:solidFill>
                  <a:srgbClr val="E8F2F4"/>
                </a:solidFill>
              </a:rPr>
              <a:t>权限和敏感性贯穿全链路</a:t>
            </a:r>
            <a:endParaRPr sz="1200" b="0">
              <a:solidFill>
                <a:srgbClr val="E8F2F4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8858250" y="4038600"/>
            <a:ext cx="2400300" cy="1162050"/>
          </a:xfrm>
          <a:prstGeom prst="roundRect">
            <a:avLst>
              <a:gd name="adj" fmla="val 4918"/>
            </a:avLst>
          </a:prstGeom>
          <a:solidFill>
            <a:srgbClr val="0C1822">
              <a:alpha val="92000"/>
            </a:srgbClr>
          </a:solidFill>
          <a:ln w="9525">
            <a:solidFill>
              <a:srgbClr val="FFBD68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067800" y="4248150"/>
            <a:ext cx="1981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FFBD68"/>
                </a:solidFill>
              </a:defRPr>
            </a:pPr>
            <a:r>
              <a:rPr sz="975" b="1">
                <a:solidFill>
                  <a:srgbClr val="FFBD68"/>
                </a:solidFill>
              </a:rPr>
              <a:t>AUDIT</a:t>
            </a:r>
            <a:endParaRPr sz="975" b="1">
              <a:solidFill>
                <a:srgbClr val="FFBD68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067800" y="4610100"/>
            <a:ext cx="1981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0">
                <a:solidFill>
                  <a:srgbClr val="E8F2F4"/>
                </a:solidFill>
              </a:defRPr>
            </a:pPr>
            <a:r>
              <a:rPr sz="1200" b="0">
                <a:solidFill>
                  <a:srgbClr val="E8F2F4"/>
                </a:solidFill>
              </a:rPr>
              <a:t>每次抽取、准入和压缩都有 trace</a:t>
            </a:r>
            <a:endParaRPr sz="1200" b="0">
              <a:solidFill>
                <a:srgbClr val="E8F2F4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539</Words>
  <Application>WPS 演示</Application>
  <PresentationFormat>Converted Presentation</PresentationFormat>
  <Paragraphs>105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Arial</vt:lpstr>
      <vt:lpstr>宋体</vt:lpstr>
      <vt:lpstr>Wingdings</vt:lpstr>
      <vt:lpstr>Calibri</vt:lpstr>
      <vt:lpstr>Helvetica Neue</vt:lpstr>
      <vt:lpstr>宋体</vt:lpstr>
      <vt:lpstr>宋体-简</vt:lpstr>
      <vt:lpstr>微软雅黑</vt:lpstr>
      <vt:lpstr>汉仪旗黑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患者°</cp:lastModifiedBy>
  <cp:revision>1</cp:revision>
  <dcterms:created xsi:type="dcterms:W3CDTF">2026-08-07T12:06:50Z</dcterms:created>
  <dcterms:modified xsi:type="dcterms:W3CDTF">2026-08-07T12:06:50Z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2A3FCEB6ABC9967B5ACA756A70E2F586_42</vt:lpwstr>
  </property>
  <property fmtid="{D5CDD505-2E9C-101B-9397-08002B2CF9AE}" pid="3" name="KSOProductBuildVer">
    <vt:lpwstr>2052-12.1.26055.26055</vt:lpwstr>
  </property>
</Properties>
</file>